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3679"/>
              </a:gs>
              <a:gs pos="100000">
                <a:srgbClr val="2196F3"/>
              </a:gs>
            </a:gsLst>
            <a:lin scaled="0" ang="198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21808" y="1051560"/>
            <a:ext cx="1554480" cy="15544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4688" y="1234439"/>
            <a:ext cx="1188720" cy="1188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2788920"/>
            <a:ext cx="944575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>
                <a:solidFill>
                  <a:srgbClr val="FFFFFF"/>
                </a:solidFill>
                <a:latin typeface="Segoe UI"/>
              </a:rPr>
              <a:t>GrowBox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31920"/>
            <a:ext cx="944575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E3F2FD"/>
                </a:solidFill>
                <a:latin typeface="Segoe UI"/>
              </a:rPr>
              <a:t>From a street-side hustle to a bankable business.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4526280"/>
            <a:ext cx="871423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0CAF9"/>
                </a:solidFill>
                <a:latin typeface="Segoe UI"/>
              </a:rPr>
              <a:t>A proactive business mentor for South African informal entrepreneurs.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0248" y="5120640"/>
            <a:ext cx="3657600" cy="475488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61688" y="5120640"/>
            <a:ext cx="34747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D47A1"/>
                </a:solidFill>
                <a:latin typeface="Segoe UI"/>
              </a:rPr>
              <a:t>grow-box.vercel.app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6126480"/>
            <a:ext cx="94457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0CAF9"/>
                </a:solidFill>
                <a:latin typeface="Segoe UI"/>
              </a:rPr>
              <a:t>FNB App of the Year Hackathon 2026 · Youth entrepreneurship and small-business growth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2062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196F3"/>
                </a:solidFill>
                <a:latin typeface="Segoe UI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D47A1"/>
                </a:solidFill>
                <a:latin typeface="Segoe UI"/>
              </a:rPr>
              <a:t>The concrete problem we solve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316736"/>
            <a:ext cx="1371600" cy="50292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6080"/>
                </a:solidFill>
                <a:latin typeface="Segoe UI"/>
              </a:rPr>
              <a:t>GrowBox · FNB App of the Year 2026 · grow-box.vercel.app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3737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6080"/>
                </a:solidFill>
                <a:latin typeface="Segoe UI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645920"/>
            <a:ext cx="2578608" cy="13716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C3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737360"/>
            <a:ext cx="2359152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0D47A1"/>
                </a:solidFill>
                <a:latin typeface="Segoe UI"/>
              </a:rPr>
              <a:t>1.9M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6080"/>
                </a:solidFill>
                <a:latin typeface="Segoe UI"/>
              </a:rPr>
              <a:t>non-VAT-registered
businesses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645920"/>
            <a:ext cx="2578608" cy="13716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C3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4448" y="1737360"/>
            <a:ext cx="2359152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0D47A1"/>
                </a:solidFill>
                <a:latin typeface="Segoe UI"/>
              </a:rPr>
              <a:t>80%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6080"/>
                </a:solidFill>
                <a:latin typeface="Segoe UI"/>
              </a:rPr>
              <a:t>are unregistered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1" y="1645920"/>
            <a:ext cx="2578608" cy="13716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C3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1737360"/>
            <a:ext cx="2359152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0D47A1"/>
                </a:solidFill>
                <a:latin typeface="Segoe UI"/>
              </a:rPr>
              <a:t>77%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6080"/>
                </a:solidFill>
                <a:latin typeface="Segoe UI"/>
              </a:rPr>
              <a:t>manage money by hand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24544" y="1645920"/>
            <a:ext cx="2578608" cy="13716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C3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34272" y="1737360"/>
            <a:ext cx="2359152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0D47A1"/>
                </a:solidFill>
                <a:latin typeface="Segoe UI"/>
              </a:rPr>
              <a:t>33%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6080"/>
                </a:solidFill>
                <a:latin typeface="Segoe UI"/>
              </a:rPr>
              <a:t>can access credit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291840"/>
            <a:ext cx="67665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19456" indent="-219456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  <a:buClr>
                <a:srgbClr val="2196F3"/>
              </a:buClr>
              <a:buFont typeface="Arial"/>
              <a:buChar char="▸"/>
            </a:pPr>
            <a:r>
              <a:rPr sz="1500" b="0">
                <a:solidFill>
                  <a:srgbClr val="10223D"/>
                </a:solidFill>
                <a:latin typeface="Segoe UI"/>
              </a:rPr>
              <a:t>No paper trail — so no credit.</a:t>
            </a:r>
          </a:p>
          <a:p>
            <a:pPr algn="l" marL="219456" indent="-219456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  <a:buClr>
                <a:srgbClr val="2196F3"/>
              </a:buClr>
              <a:buFont typeface="Arial"/>
              <a:buChar char="▸"/>
            </a:pPr>
            <a:r>
              <a:rPr sz="1500" b="0">
                <a:solidFill>
                  <a:srgbClr val="10223D"/>
                </a:solidFill>
                <a:latin typeface="Segoe UI"/>
              </a:rPr>
              <a:t>Margins collapse when input prices move.</a:t>
            </a:r>
          </a:p>
          <a:p>
            <a:pPr algn="l" marL="219456" indent="-219456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  <a:buClr>
                <a:srgbClr val="2196F3"/>
              </a:buClr>
              <a:buFont typeface="Arial"/>
              <a:buChar char="▸"/>
            </a:pPr>
            <a:r>
              <a:rPr sz="1500" b="0">
                <a:solidFill>
                  <a:srgbClr val="10223D"/>
                </a:solidFill>
                <a:latin typeface="Segoe UI"/>
              </a:rPr>
              <a:t>Advice is generic, scattered and reactive.</a:t>
            </a:r>
          </a:p>
          <a:p>
            <a:pPr algn="l" marL="219456" indent="-219456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  <a:buClr>
                <a:srgbClr val="2196F3"/>
              </a:buClr>
              <a:buFont typeface="Arial"/>
              <a:buChar char="▸"/>
            </a:pPr>
            <a:r>
              <a:rPr sz="1500" b="0">
                <a:solidFill>
                  <a:srgbClr val="10223D"/>
                </a:solidFill>
                <a:latin typeface="Segoe UI"/>
              </a:rPr>
              <a:t>R350bn MSME funding gap (OECD, 2026).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3291840"/>
            <a:ext cx="3657600" cy="2011680"/>
          </a:xfrm>
          <a:prstGeom prst="roundRect">
            <a:avLst>
              <a:gd name="adj" fmla="val 12000"/>
            </a:avLst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3291840"/>
            <a:ext cx="32918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No paper trail
= no credit.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2062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196F3"/>
                </a:solidFill>
                <a:latin typeface="Segoe UI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D47A1"/>
                </a:solidFill>
                <a:latin typeface="Segoe UI"/>
              </a:rPr>
              <a:t>Our unique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316736"/>
            <a:ext cx="1371600" cy="50292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6080"/>
                </a:solidFill>
                <a:latin typeface="Segoe UI"/>
              </a:rPr>
              <a:t>GrowBox · FNB App of the Year 2026 · grow-box.vercel.app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3737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6080"/>
                </a:solidFill>
                <a:latin typeface="Segoe UI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645920"/>
            <a:ext cx="10698480" cy="777240"/>
          </a:xfrm>
          <a:prstGeom prst="roundRect">
            <a:avLst>
              <a:gd name="adj" fmla="val 12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45920"/>
            <a:ext cx="10332719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D47A1"/>
                </a:solidFill>
                <a:latin typeface="Segoe UI"/>
              </a:rPr>
              <a:t>“What is the next best step I should take?”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743200"/>
            <a:ext cx="658368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19456" indent="-219456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  <a:buClr>
                <a:srgbClr val="2196F3"/>
              </a:buClr>
              <a:buFont typeface="Arial"/>
              <a:buChar char="▸"/>
            </a:pPr>
            <a:r>
              <a:rPr sz="1500" b="0">
                <a:solidFill>
                  <a:srgbClr val="10223D"/>
                </a:solidFill>
                <a:latin typeface="Segoe UI"/>
              </a:rPr>
              <a:t>A proactive mentor — she never asks.</a:t>
            </a:r>
          </a:p>
          <a:p>
            <a:pPr algn="l" marL="219456" indent="-219456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  <a:buClr>
                <a:srgbClr val="2196F3"/>
              </a:buClr>
              <a:buFont typeface="Arial"/>
              <a:buChar char="▸"/>
            </a:pPr>
            <a:r>
              <a:rPr sz="1500" b="0">
                <a:solidFill>
                  <a:srgbClr val="10223D"/>
                </a:solidFill>
                <a:latin typeface="Segoe UI"/>
              </a:rPr>
              <a:t>Acts on her own numbers, every day.</a:t>
            </a:r>
          </a:p>
          <a:p>
            <a:pPr algn="l" marL="219456" indent="-219456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  <a:buClr>
                <a:srgbClr val="2196F3"/>
              </a:buClr>
              <a:buFont typeface="Arial"/>
              <a:buChar char="▸"/>
            </a:pPr>
            <a:r>
              <a:rPr sz="1500" b="0">
                <a:solidFill>
                  <a:srgbClr val="10223D"/>
                </a:solidFill>
                <a:latin typeface="Segoe UI"/>
              </a:rPr>
              <a:t>Answers in English and isiZulu.</a:t>
            </a:r>
          </a:p>
          <a:p>
            <a:pPr algn="l" marL="219456" indent="-219456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  <a:buClr>
                <a:srgbClr val="2196F3"/>
              </a:buClr>
              <a:buFont typeface="Arial"/>
              <a:buChar char="▸"/>
            </a:pPr>
            <a:r>
              <a:rPr sz="1500" b="0">
                <a:solidFill>
                  <a:srgbClr val="10223D"/>
                </a:solidFill>
                <a:latin typeface="Segoe UI"/>
              </a:rPr>
              <a:t>Builds the bankable record as a by-product.</a:t>
            </a:r>
          </a:p>
          <a:p>
            <a:pPr algn="l" marL="219456" indent="-219456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  <a:buClr>
                <a:srgbClr val="2196F3"/>
              </a:buClr>
              <a:buFont typeface="Arial"/>
              <a:buChar char="▸"/>
            </a:pPr>
            <a:r>
              <a:rPr sz="1500" b="0">
                <a:solidFill>
                  <a:srgbClr val="10223D"/>
                </a:solidFill>
                <a:latin typeface="Segoe UI"/>
              </a:rPr>
              <a:t>Live at grow-box.vercel.app.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2743200"/>
            <a:ext cx="3657600" cy="3017520"/>
          </a:xfrm>
          <a:prstGeom prst="roundRect">
            <a:avLst>
              <a:gd name="adj" fmla="val 6000"/>
            </a:avLst>
          </a:prstGeom>
          <a:solidFill>
            <a:srgbClr val="E3F2FD"/>
          </a:solidFill>
          <a:ln w="12700">
            <a:solidFill>
              <a:srgbClr val="C3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999232"/>
            <a:ext cx="310896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150" b="1">
                <a:solidFill>
                  <a:srgbClr val="2196F3"/>
                </a:solidFill>
                <a:latin typeface="Segoe UI"/>
              </a:rPr>
              <a:t>WHAT WE ARE NOT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0D47A1"/>
                </a:solidFill>
                <a:latin typeface="Segoe UI"/>
              </a:rPr>
              <a:t>Not a chatbot.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0D47A1"/>
                </a:solidFill>
                <a:latin typeface="Segoe UI"/>
              </a:rPr>
              <a:t>Not accounting software.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0D47A1"/>
                </a:solidFill>
                <a:latin typeface="Segoe UI"/>
              </a:rPr>
              <a:t>Not another course.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2062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196F3"/>
                </a:solidFill>
                <a:latin typeface="Segoe U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D47A1"/>
                </a:solidFill>
                <a:latin typeface="Segoe UI"/>
              </a:rPr>
              <a:t>Our unique solution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316736"/>
            <a:ext cx="1371600" cy="50292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6080"/>
                </a:solidFill>
                <a:latin typeface="Segoe UI"/>
              </a:rPr>
              <a:t>GrowBox · FNB App of the Year 2026 · grow-box.vercel.app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3737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6080"/>
                </a:solidFill>
                <a:latin typeface="Segoe UI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627632"/>
            <a:ext cx="6766560" cy="786384"/>
          </a:xfrm>
          <a:prstGeom prst="roundRect">
            <a:avLst>
              <a:gd name="adj" fmla="val 12000"/>
            </a:avLst>
          </a:prstGeom>
          <a:solidFill>
            <a:srgbClr val="E3F2FD"/>
          </a:solidFill>
          <a:ln w="12700">
            <a:solidFill>
              <a:srgbClr val="C3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6309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0223D"/>
                </a:solidFill>
                <a:latin typeface="Segoe UI"/>
              </a:rPr>
              <a:t>PWA UI  —  </a:t>
            </a:r>
            <a:r>
              <a:rPr sz="1350" b="0">
                <a:solidFill>
                  <a:srgbClr val="10223D"/>
                </a:solidFill>
                <a:latin typeface="Segoe UI"/>
              </a:rPr>
              <a:t>Next.js App Router · screens · server actions</a:t>
            </a:r>
          </a:p>
        </p:txBody>
      </p:sp>
      <p:sp>
        <p:nvSpPr>
          <p:cNvPr id="10" name="Down Arrow 9"/>
          <p:cNvSpPr/>
          <p:nvPr/>
        </p:nvSpPr>
        <p:spPr>
          <a:xfrm>
            <a:off x="3950208" y="2423160"/>
            <a:ext cx="365760" cy="182880"/>
          </a:xfrm>
          <a:prstGeom prst="downArrow">
            <a:avLst/>
          </a:prstGeom>
          <a:solidFill>
            <a:srgbClr val="90C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9808" y="2606040"/>
            <a:ext cx="6766560" cy="786384"/>
          </a:xfrm>
          <a:prstGeom prst="roundRect">
            <a:avLst>
              <a:gd name="adj" fmla="val 12000"/>
            </a:avLst>
          </a:prstGeom>
          <a:solidFill>
            <a:srgbClr val="90CAF9"/>
          </a:solidFill>
          <a:ln w="12700">
            <a:solidFill>
              <a:srgbClr val="C3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715768"/>
            <a:ext cx="6309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0223D"/>
                </a:solidFill>
                <a:latin typeface="Segoe UI"/>
              </a:rPr>
              <a:t>Pure-TS domain core  —  </a:t>
            </a:r>
            <a:r>
              <a:rPr sz="1350" b="0">
                <a:solidFill>
                  <a:srgbClr val="10223D"/>
                </a:solidFill>
                <a:latin typeface="Segoe UI"/>
              </a:rPr>
              <a:t>costing · margins · runway · stage · score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3950208" y="3401568"/>
            <a:ext cx="365760" cy="182880"/>
          </a:xfrm>
          <a:prstGeom prst="downArrow">
            <a:avLst/>
          </a:prstGeom>
          <a:solidFill>
            <a:srgbClr val="90C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9808" y="3584448"/>
            <a:ext cx="6766560" cy="786384"/>
          </a:xfrm>
          <a:prstGeom prst="roundRect">
            <a:avLst>
              <a:gd name="adj" fmla="val 12000"/>
            </a:avLst>
          </a:prstGeom>
          <a:solidFill>
            <a:srgbClr val="2196F3"/>
          </a:solidFill>
          <a:ln w="12700">
            <a:solidFill>
              <a:srgbClr val="C3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694176"/>
            <a:ext cx="6309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AI adapter (Gemini)  —  </a:t>
            </a:r>
            <a:r>
              <a:rPr sz="1350" b="0">
                <a:solidFill>
                  <a:srgbClr val="FFFFFF"/>
                </a:solidFill>
                <a:latin typeface="Segoe UI"/>
              </a:rPr>
              <a:t>explains and translates · 8s timeout · fallback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3950208" y="4379976"/>
            <a:ext cx="365760" cy="182880"/>
          </a:xfrm>
          <a:prstGeom prst="downArrow">
            <a:avLst/>
          </a:prstGeom>
          <a:solidFill>
            <a:srgbClr val="90C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9808" y="4562856"/>
            <a:ext cx="6766560" cy="786384"/>
          </a:xfrm>
          <a:prstGeom prst="roundRect">
            <a:avLst>
              <a:gd name="adj" fmla="val 12000"/>
            </a:avLst>
          </a:prstGeom>
          <a:solidFill>
            <a:srgbClr val="0D47A1"/>
          </a:solidFill>
          <a:ln w="12700">
            <a:solidFill>
              <a:srgbClr val="C3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672584"/>
            <a:ext cx="6309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Supabase Postgres  —  </a:t>
            </a:r>
            <a:r>
              <a:rPr sz="1350" b="0">
                <a:solidFill>
                  <a:srgbClr val="FFFFFF"/>
                </a:solidFill>
                <a:latin typeface="Segoe UI"/>
              </a:rPr>
              <a:t>row-level security · money as integer cents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3950208" y="5358384"/>
            <a:ext cx="365760" cy="182880"/>
          </a:xfrm>
          <a:prstGeom prst="downArrow">
            <a:avLst/>
          </a:prstGeom>
          <a:solidFill>
            <a:srgbClr val="90C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49808" y="5541264"/>
            <a:ext cx="6766560" cy="786384"/>
          </a:xfrm>
          <a:prstGeom prst="roundRect">
            <a:avLst>
              <a:gd name="adj" fmla="val 12000"/>
            </a:avLst>
          </a:prstGeom>
          <a:solidFill>
            <a:srgbClr val="0A3679"/>
          </a:solidFill>
          <a:ln w="12700">
            <a:solidFill>
              <a:srgbClr val="C3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650992"/>
            <a:ext cx="6309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Vercel  —  </a:t>
            </a:r>
            <a:r>
              <a:rPr sz="1350" b="0">
                <a:solidFill>
                  <a:srgbClr val="FFFFFF"/>
                </a:solidFill>
                <a:latin typeface="Segoe UI"/>
              </a:rPr>
              <a:t>edge deploy · public production URL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0" y="1627632"/>
            <a:ext cx="3566160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3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28431" y="1792224"/>
            <a:ext cx="3236976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0D47A1"/>
                </a:solidFill>
                <a:latin typeface="Segoe UI"/>
              </a:rPr>
              <a:t>Code calculates, AI explains.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6080"/>
                </a:solidFill>
                <a:latin typeface="Segoe UI"/>
              </a:rPr>
              <a:t>Every number is deterministic, tested TypeScript.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63840" y="3182112"/>
            <a:ext cx="3566160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3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3346704"/>
            <a:ext cx="3236976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0D47A1"/>
                </a:solidFill>
                <a:latin typeface="Segoe UI"/>
              </a:rPr>
              <a:t>AI never blocks a flow.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6080"/>
                </a:solidFill>
                <a:latin typeface="Segoe UI"/>
              </a:rPr>
              <a:t>Rule-based fallback if the key or network is missing.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40" y="4736592"/>
            <a:ext cx="3566160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3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28431" y="4901183"/>
            <a:ext cx="3236976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0D47A1"/>
                </a:solidFill>
                <a:latin typeface="Segoe UI"/>
              </a:rPr>
              <a:t>Rows are locked to one owner.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6080"/>
                </a:solidFill>
                <a:latin typeface="Segoe UI"/>
              </a:rPr>
              <a:t>RLS scopes every table to the business.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2062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196F3"/>
                </a:solidFill>
                <a:latin typeface="Segoe UI"/>
              </a:rPr>
              <a:t>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D47A1"/>
                </a:solidFill>
                <a:latin typeface="Segoe UI"/>
              </a:rPr>
              <a:t>User journey story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316736"/>
            <a:ext cx="1371600" cy="50292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6080"/>
                </a:solidFill>
                <a:latin typeface="Segoe UI"/>
              </a:rPr>
              <a:t>GrowBox · FNB App of the Year 2026 · grow-box.vercel.app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3737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6080"/>
                </a:solidFill>
                <a:latin typeface="Segoe UI"/>
              </a:rPr>
              <a:t>5</a:t>
            </a:r>
          </a:p>
        </p:txBody>
      </p:sp>
      <p:sp>
        <p:nvSpPr>
          <p:cNvPr id="8" name="Chevron 7"/>
          <p:cNvSpPr/>
          <p:nvPr/>
        </p:nvSpPr>
        <p:spPr>
          <a:xfrm>
            <a:off x="749808" y="1627632"/>
            <a:ext cx="2157984" cy="841248"/>
          </a:xfrm>
          <a:prstGeom prst="chevron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1 · Idea</a:t>
            </a:r>
          </a:p>
        </p:txBody>
      </p:sp>
      <p:sp>
        <p:nvSpPr>
          <p:cNvPr id="9" name="Chevron 8"/>
          <p:cNvSpPr/>
          <p:nvPr/>
        </p:nvSpPr>
        <p:spPr>
          <a:xfrm>
            <a:off x="2926079" y="1627632"/>
            <a:ext cx="2157984" cy="841248"/>
          </a:xfrm>
          <a:prstGeom prst="chevron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2 · Launch</a:t>
            </a:r>
          </a:p>
        </p:txBody>
      </p:sp>
      <p:sp>
        <p:nvSpPr>
          <p:cNvPr id="10" name="Chevron 9"/>
          <p:cNvSpPr/>
          <p:nvPr/>
        </p:nvSpPr>
        <p:spPr>
          <a:xfrm>
            <a:off x="5102352" y="1627632"/>
            <a:ext cx="2157984" cy="841248"/>
          </a:xfrm>
          <a:prstGeom prst="chevron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3 · Stable</a:t>
            </a:r>
          </a:p>
        </p:txBody>
      </p:sp>
      <p:sp>
        <p:nvSpPr>
          <p:cNvPr id="11" name="Chevron 10"/>
          <p:cNvSpPr/>
          <p:nvPr/>
        </p:nvSpPr>
        <p:spPr>
          <a:xfrm>
            <a:off x="7278624" y="1627632"/>
            <a:ext cx="2157984" cy="841248"/>
          </a:xfrm>
          <a:prstGeom prst="chevron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4 · Grow</a:t>
            </a:r>
          </a:p>
        </p:txBody>
      </p:sp>
      <p:sp>
        <p:nvSpPr>
          <p:cNvPr id="12" name="Chevron 11"/>
          <p:cNvSpPr/>
          <p:nvPr/>
        </p:nvSpPr>
        <p:spPr>
          <a:xfrm>
            <a:off x="9454896" y="1627632"/>
            <a:ext cx="2157984" cy="841248"/>
          </a:xfrm>
          <a:prstGeom prst="chevron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5 · Enterprise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926080"/>
            <a:ext cx="1069848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19456" indent="-219456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  <a:buClr>
                <a:srgbClr val="2196F3"/>
              </a:buClr>
              <a:buFont typeface="Arial"/>
              <a:buChar char="▸"/>
            </a:pPr>
            <a:r>
              <a:rPr sz="1600" b="0">
                <a:solidFill>
                  <a:srgbClr val="10223D"/>
                </a:solidFill>
                <a:latin typeface="Segoe UI"/>
              </a:rPr>
              <a:t>Nomsa starts with R1,500 and an idea.</a:t>
            </a:r>
          </a:p>
          <a:p>
            <a:pPr algn="l" marL="219456" indent="-219456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  <a:buClr>
                <a:srgbClr val="2196F3"/>
              </a:buClr>
              <a:buFont typeface="Arial"/>
              <a:buChar char="▸"/>
            </a:pPr>
            <a:r>
              <a:rPr sz="1600" b="0">
                <a:solidFill>
                  <a:srgbClr val="10223D"/>
                </a:solidFill>
                <a:latin typeface="Segoe UI"/>
              </a:rPr>
              <a:t>The Stage 1 wizard costs her amagwinya in 90 seconds.</a:t>
            </a:r>
          </a:p>
          <a:p>
            <a:pPr algn="l" marL="219456" indent="-219456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  <a:buClr>
                <a:srgbClr val="2196F3"/>
              </a:buClr>
              <a:buFont typeface="Arial"/>
              <a:buChar char="▸"/>
            </a:pPr>
            <a:r>
              <a:rPr sz="1600" b="0">
                <a:solidFill>
                  <a:srgbClr val="10223D"/>
                </a:solidFill>
                <a:latin typeface="Segoe UI"/>
              </a:rPr>
              <a:t>She types: “sold 40 gwinyas, bought oil for R180”.</a:t>
            </a:r>
          </a:p>
          <a:p>
            <a:pPr algn="l" marL="219456" indent="-219456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  <a:buClr>
                <a:srgbClr val="2196F3"/>
              </a:buClr>
              <a:buFont typeface="Arial"/>
              <a:buChar char="▸"/>
            </a:pPr>
            <a:r>
              <a:rPr sz="1600" b="0">
                <a:solidFill>
                  <a:srgbClr val="10223D"/>
                </a:solidFill>
                <a:latin typeface="Segoe UI"/>
              </a:rPr>
              <a:t>Nudges protect margin and cash before Thursday.</a:t>
            </a:r>
          </a:p>
          <a:p>
            <a:pPr algn="l" marL="219456" indent="-219456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  <a:buClr>
                <a:srgbClr val="2196F3"/>
              </a:buClr>
              <a:buFont typeface="Arial"/>
              <a:buChar char="▸"/>
            </a:pPr>
            <a:r>
              <a:rPr sz="1600" b="0">
                <a:solidFill>
                  <a:srgbClr val="10223D"/>
                </a:solidFill>
                <a:latin typeface="Segoe UI"/>
              </a:rPr>
              <a:t>14 days of trades become a lender-ready record.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2062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196F3"/>
                </a:solidFill>
                <a:latin typeface="Segoe UI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D47A1"/>
                </a:solidFill>
                <a:latin typeface="Segoe UI"/>
              </a:rPr>
              <a:t>What the app does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316736"/>
            <a:ext cx="1371600" cy="50292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6080"/>
                </a:solidFill>
                <a:latin typeface="Segoe UI"/>
              </a:rPr>
              <a:t>GrowBox · FNB App of the Year 2026 · grow-box.vercel.app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3737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6080"/>
                </a:solidFill>
                <a:latin typeface="Segoe UI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737360"/>
            <a:ext cx="2057400" cy="2468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3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901952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14016"/>
            <a:ext cx="1728216" cy="1664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2196F3"/>
                </a:solidFill>
                <a:latin typeface="Segoe UI"/>
              </a:rPr>
              <a:t>Costing wizard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6080"/>
                </a:solidFill>
                <a:latin typeface="Segoe UI"/>
              </a:rPr>
              <a:t>Cost per unit, margin, break-even, suggested price.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79" y="1737360"/>
            <a:ext cx="2057400" cy="2468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3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090672" y="1901952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0672" y="2414016"/>
            <a:ext cx="1728216" cy="1664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0D47A1"/>
                </a:solidFill>
                <a:latin typeface="Segoe UI"/>
              </a:rPr>
              <a:t>15-second logging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6080"/>
                </a:solidFill>
                <a:latin typeface="Segoe UI"/>
              </a:rPr>
              <a:t>Type a sale. Confirm the parse. Saved.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02352" y="1737360"/>
            <a:ext cx="2057400" cy="2468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3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266944" y="1901952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66944" y="2414016"/>
            <a:ext cx="1728216" cy="1664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2196F3"/>
                </a:solidFill>
                <a:latin typeface="Segoe UI"/>
              </a:rPr>
              <a:t>Proactive nudges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6080"/>
                </a:solidFill>
                <a:latin typeface="Segoe UI"/>
              </a:rPr>
              <a:t>Margin drops, cash warnings, stock cover.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78624" y="1737360"/>
            <a:ext cx="2057400" cy="2468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3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43216" y="1901952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43216" y="2414016"/>
            <a:ext cx="1728216" cy="1664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0D47A1"/>
                </a:solidFill>
                <a:latin typeface="Segoe UI"/>
              </a:rPr>
              <a:t>Health Score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6080"/>
                </a:solidFill>
                <a:latin typeface="Segoe UI"/>
              </a:rPr>
              <a:t>A 0–100 credit-readiness signal.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54896" y="1737360"/>
            <a:ext cx="2057400" cy="2468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3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19488" y="1901952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19488" y="2414016"/>
            <a:ext cx="1728216" cy="1664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2196F3"/>
                </a:solidFill>
                <a:latin typeface="Segoe UI"/>
              </a:rPr>
              <a:t>Credit record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6080"/>
                </a:solidFill>
                <a:latin typeface="Segoe UI"/>
              </a:rPr>
              <a:t>Exportable trading history for lenders.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663440"/>
            <a:ext cx="10698480" cy="1005840"/>
          </a:xfrm>
          <a:prstGeom prst="roundRect">
            <a:avLst>
              <a:gd name="adj" fmla="val 12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663440"/>
            <a:ext cx="10332719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D47A1"/>
                </a:solidFill>
                <a:latin typeface="Segoe UI"/>
              </a:rPr>
              <a:t>Simulated FNB feed is labelled · confirm before anything is saved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2062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196F3"/>
                </a:solidFill>
                <a:latin typeface="Segoe UI"/>
              </a:rPr>
              <a:t>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D47A1"/>
                </a:solidFill>
                <a:latin typeface="Segoe UI"/>
              </a:rPr>
              <a:t>Key tech stack — and what makes it fast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316736"/>
            <a:ext cx="1371600" cy="50292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6080"/>
                </a:solidFill>
                <a:latin typeface="Segoe UI"/>
              </a:rPr>
              <a:t>GrowBox · FNB App of the Year 2026 · grow-box.vercel.app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3737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6080"/>
                </a:solidFill>
                <a:latin typeface="Segoe UI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691640"/>
            <a:ext cx="5212080" cy="4114800"/>
          </a:xfrm>
          <a:prstGeom prst="roundRect">
            <a:avLst>
              <a:gd name="adj" fmla="val 5000"/>
            </a:avLst>
          </a:prstGeom>
          <a:solidFill>
            <a:srgbClr val="E3F2FD"/>
          </a:solidFill>
          <a:ln w="12700">
            <a:solidFill>
              <a:srgbClr val="C3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9202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196F3"/>
                </a:solidFill>
                <a:latin typeface="Segoe UI"/>
              </a:rPr>
              <a:t>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377440"/>
            <a:ext cx="46634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19456" indent="-219456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  <a:buClr>
                <a:srgbClr val="2196F3"/>
              </a:buClr>
              <a:buFont typeface="Arial"/>
              <a:buChar char="▸"/>
            </a:pPr>
            <a:r>
              <a:rPr sz="1350" b="0">
                <a:solidFill>
                  <a:srgbClr val="10223D"/>
                </a:solidFill>
                <a:latin typeface="Segoe UI"/>
              </a:rPr>
              <a:t>Next.js 16 · App Router · Turbopack</a:t>
            </a:r>
          </a:p>
          <a:p>
            <a:pPr algn="l" marL="219456" indent="-219456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  <a:buClr>
                <a:srgbClr val="2196F3"/>
              </a:buClr>
              <a:buFont typeface="Arial"/>
              <a:buChar char="▸"/>
            </a:pPr>
            <a:r>
              <a:rPr sz="1350" b="0">
                <a:solidFill>
                  <a:srgbClr val="10223D"/>
                </a:solidFill>
                <a:latin typeface="Segoe UI"/>
              </a:rPr>
              <a:t>TypeScript strict · Tailwind CSS 4</a:t>
            </a:r>
          </a:p>
          <a:p>
            <a:pPr algn="l" marL="219456" indent="-219456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  <a:buClr>
                <a:srgbClr val="2196F3"/>
              </a:buClr>
              <a:buFont typeface="Arial"/>
              <a:buChar char="▸"/>
            </a:pPr>
            <a:r>
              <a:rPr sz="1350" b="0">
                <a:solidFill>
                  <a:srgbClr val="10223D"/>
                </a:solidFill>
                <a:latin typeface="Segoe UI"/>
              </a:rPr>
              <a:t>Supabase Postgres with row-level security</a:t>
            </a:r>
          </a:p>
          <a:p>
            <a:pPr algn="l" marL="219456" indent="-219456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  <a:buClr>
                <a:srgbClr val="2196F3"/>
              </a:buClr>
              <a:buFont typeface="Arial"/>
              <a:buChar char="▸"/>
            </a:pPr>
            <a:r>
              <a:rPr sz="1350" b="0">
                <a:solidFill>
                  <a:srgbClr val="10223D"/>
                </a:solidFill>
                <a:latin typeface="Segoe UI"/>
              </a:rPr>
              <a:t>Vercel edge hosting</a:t>
            </a:r>
          </a:p>
          <a:p>
            <a:pPr algn="l" marL="219456" indent="-219456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  <a:buClr>
                <a:srgbClr val="2196F3"/>
              </a:buClr>
              <a:buFont typeface="Arial"/>
              <a:buChar char="▸"/>
            </a:pPr>
            <a:r>
              <a:rPr sz="1350" b="0">
                <a:solidFill>
                  <a:srgbClr val="10223D"/>
                </a:solidFill>
                <a:latin typeface="Segoe UI"/>
              </a:rPr>
              <a:t>Vitest: 62 passing tests · ESLint · tsc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91640"/>
            <a:ext cx="521208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3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9202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196F3"/>
                </a:solidFill>
                <a:latin typeface="Segoe UI"/>
              </a:rPr>
              <a:t>FAST BY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377440"/>
            <a:ext cx="46634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19456" indent="-219456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  <a:buClr>
                <a:srgbClr val="2196F3"/>
              </a:buClr>
              <a:buFont typeface="Arial"/>
              <a:buChar char="▸"/>
            </a:pPr>
            <a:r>
              <a:rPr sz="1350" b="0">
                <a:solidFill>
                  <a:srgbClr val="10223D"/>
                </a:solidFill>
                <a:latin typeface="Segoe UI"/>
              </a:rPr>
              <a:t>Static-first shell, served from the edge</a:t>
            </a:r>
          </a:p>
          <a:p>
            <a:pPr algn="l" marL="219456" indent="-219456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  <a:buClr>
                <a:srgbClr val="2196F3"/>
              </a:buClr>
              <a:buFont typeface="Arial"/>
              <a:buChar char="▸"/>
            </a:pPr>
            <a:r>
              <a:rPr sz="1350" b="0">
                <a:solidFill>
                  <a:srgbClr val="10223D"/>
                </a:solidFill>
                <a:latin typeface="Segoe UI"/>
              </a:rPr>
              <a:t>Deterministic maths stays off the AI path</a:t>
            </a:r>
          </a:p>
          <a:p>
            <a:pPr algn="l" marL="219456" indent="-219456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  <a:buClr>
                <a:srgbClr val="2196F3"/>
              </a:buClr>
              <a:buFont typeface="Arial"/>
              <a:buChar char="▸"/>
            </a:pPr>
            <a:r>
              <a:rPr sz="1350" b="0">
                <a:solidFill>
                  <a:srgbClr val="10223D"/>
                </a:solidFill>
                <a:latin typeface="Segoe UI"/>
              </a:rPr>
              <a:t>Low-data PWA for entry-level Android</a:t>
            </a:r>
          </a:p>
          <a:p>
            <a:pPr algn="l" marL="219456" indent="-219456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  <a:buClr>
                <a:srgbClr val="2196F3"/>
              </a:buClr>
              <a:buFont typeface="Arial"/>
              <a:buChar char="▸"/>
            </a:pPr>
            <a:r>
              <a:rPr sz="1350" b="0">
                <a:solidFill>
                  <a:srgbClr val="10223D"/>
                </a:solidFill>
                <a:latin typeface="Segoe UI"/>
              </a:rPr>
              <a:t>Works offline for review and calculations</a:t>
            </a:r>
          </a:p>
          <a:p>
            <a:pPr algn="l" marL="219456" indent="-219456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  <a:buClr>
                <a:srgbClr val="2196F3"/>
              </a:buClr>
              <a:buFont typeface="Arial"/>
              <a:buChar char="▸"/>
            </a:pPr>
            <a:r>
              <a:rPr sz="1350" b="0">
                <a:solidFill>
                  <a:srgbClr val="10223D"/>
                </a:solidFill>
                <a:latin typeface="Segoe UI"/>
              </a:rPr>
              <a:t>English and isiZulu message files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2062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196F3"/>
                </a:solidFill>
                <a:latin typeface="Segoe UI"/>
              </a:rP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D47A1"/>
                </a:solidFill>
                <a:latin typeface="Segoe UI"/>
              </a:rPr>
              <a:t>Demo account details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316736"/>
            <a:ext cx="1371600" cy="50292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6080"/>
                </a:solidFill>
                <a:latin typeface="Segoe UI"/>
              </a:rPr>
              <a:t>GrowBox · FNB App of the Year 2026 · grow-box.vercel.app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3737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6080"/>
                </a:solidFill>
                <a:latin typeface="Segoe UI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645920"/>
            <a:ext cx="5486400" cy="4114800"/>
          </a:xfrm>
          <a:prstGeom prst="roundRect">
            <a:avLst>
              <a:gd name="adj" fmla="val 5000"/>
            </a:avLst>
          </a:prstGeom>
          <a:solidFill>
            <a:srgbClr val="E3F2FD"/>
          </a:solidFill>
          <a:ln w="12700">
            <a:solidFill>
              <a:srgbClr val="0D47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901952"/>
            <a:ext cx="493776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150" b="1">
                <a:solidFill>
                  <a:srgbClr val="2196F3"/>
                </a:solidFill>
                <a:latin typeface="Segoe UI"/>
              </a:rPr>
              <a:t>FOR JUDGES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4A6080"/>
                </a:solidFill>
                <a:latin typeface="Segoe UI"/>
              </a:rPr>
              <a:t>Link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0D47A1"/>
                </a:solidFill>
                <a:latin typeface="Segoe UI"/>
              </a:rPr>
              <a:t>https://grow-box.vercel.app/login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4A6080"/>
                </a:solidFill>
                <a:latin typeface="Segoe UI"/>
              </a:rPr>
              <a:t>One click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0D47A1"/>
                </a:solidFill>
                <a:latin typeface="Segoe UI"/>
              </a:rPr>
              <a:t>“Continue with the demo account”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4A6080"/>
                </a:solidFill>
                <a:latin typeface="Segoe UI"/>
              </a:rPr>
              <a:t>Email (magic link, no password)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D47A1"/>
                </a:solidFill>
                <a:latin typeface="Segoe UI"/>
              </a:rPr>
              <a:t>demo@growbox.app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64592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96F3"/>
                </a:solidFill>
                <a:latin typeface="Segoe UI"/>
              </a:rPr>
              <a:t>WHAT JUDGES WILL SEE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148840"/>
            <a:ext cx="48463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19456" indent="-219456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  <a:buClr>
                <a:srgbClr val="2196F3"/>
              </a:buClr>
              <a:buFont typeface="Arial"/>
              <a:buChar char="▸"/>
            </a:pPr>
            <a:r>
              <a:rPr sz="1400" b="0">
                <a:solidFill>
                  <a:srgbClr val="10223D"/>
                </a:solidFill>
                <a:latin typeface="Segoe UI"/>
              </a:rPr>
              <a:t>Nomsa's Kitchen — Soweto food business</a:t>
            </a:r>
          </a:p>
          <a:p>
            <a:pPr algn="l" marL="219456" indent="-219456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  <a:buClr>
                <a:srgbClr val="2196F3"/>
              </a:buClr>
              <a:buFont typeface="Arial"/>
              <a:buChar char="▸"/>
            </a:pPr>
            <a:r>
              <a:rPr sz="1400" b="0">
                <a:solidFill>
                  <a:srgbClr val="10223D"/>
                </a:solidFill>
                <a:latin typeface="Segoe UI"/>
              </a:rPr>
              <a:t>Stage 1 launch and costing wizard first</a:t>
            </a:r>
          </a:p>
          <a:p>
            <a:pPr algn="l" marL="219456" indent="-219456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  <a:buClr>
                <a:srgbClr val="2196F3"/>
              </a:buClr>
              <a:buFont typeface="Arial"/>
              <a:buChar char="▸"/>
            </a:pPr>
            <a:r>
              <a:rPr sz="1400" b="0">
                <a:solidFill>
                  <a:srgbClr val="10223D"/>
                </a:solidFill>
                <a:latin typeface="Segoe UI"/>
              </a:rPr>
              <a:t>Persona switcher loads 30 days of Stage 3 trades</a:t>
            </a:r>
          </a:p>
          <a:p>
            <a:pPr algn="l" marL="219456" indent="-219456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  <a:buClr>
                <a:srgbClr val="2196F3"/>
              </a:buClr>
              <a:buFont typeface="Arial"/>
              <a:buChar char="▸"/>
            </a:pPr>
            <a:r>
              <a:rPr sz="1400" b="0">
                <a:solidFill>
                  <a:srgbClr val="10223D"/>
                </a:solidFill>
                <a:latin typeface="Segoe UI"/>
              </a:rPr>
              <a:t>Logging, nudges, dashboard, Health Score</a:t>
            </a:r>
          </a:p>
          <a:p>
            <a:pPr algn="l" marL="219456" indent="-219456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  <a:buClr>
                <a:srgbClr val="2196F3"/>
              </a:buClr>
              <a:buFont typeface="Arial"/>
              <a:buChar char="▸"/>
            </a:pPr>
            <a:r>
              <a:rPr sz="1400" b="0">
                <a:solidFill>
                  <a:srgbClr val="10223D"/>
                </a:solidFill>
                <a:latin typeface="Segoe UI"/>
              </a:rPr>
              <a:t>English and isiZulu throughout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2062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196F3"/>
                </a:solidFill>
                <a:latin typeface="Segoe UI"/>
              </a:rPr>
              <a:t>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D47A1"/>
                </a:solidFill>
                <a:latin typeface="Segoe UI"/>
              </a:rPr>
              <a:t>App build file — installable PWA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316736"/>
            <a:ext cx="1371600" cy="50292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6080"/>
                </a:solidFill>
                <a:latin typeface="Segoe UI"/>
              </a:rPr>
              <a:t>GrowBox · FNB App of the Year 2026 · grow-box.vercel.app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3737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6080"/>
                </a:solidFill>
                <a:latin typeface="Segoe U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737360"/>
            <a:ext cx="640080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19456" indent="-219456">
              <a:lnSpc>
                <a:spcPct val="108000"/>
              </a:lnSpc>
              <a:spcBef>
                <a:spcPts val="0"/>
              </a:spcBef>
              <a:spcAft>
                <a:spcPts val="1800"/>
              </a:spcAft>
              <a:buClr>
                <a:srgbClr val="2196F3"/>
              </a:buClr>
              <a:buFont typeface="Arial"/>
              <a:buChar char="▸"/>
            </a:pPr>
            <a:r>
              <a:rPr sz="1600" b="0">
                <a:solidFill>
                  <a:srgbClr val="10223D"/>
                </a:solidFill>
                <a:latin typeface="Segoe UI"/>
              </a:rPr>
              <a:t>One link installs it — no app store.</a:t>
            </a:r>
          </a:p>
          <a:p>
            <a:pPr algn="l" marL="219456" indent="-219456">
              <a:lnSpc>
                <a:spcPct val="108000"/>
              </a:lnSpc>
              <a:spcBef>
                <a:spcPts val="0"/>
              </a:spcBef>
              <a:spcAft>
                <a:spcPts val="1800"/>
              </a:spcAft>
              <a:buClr>
                <a:srgbClr val="2196F3"/>
              </a:buClr>
              <a:buFont typeface="Arial"/>
              <a:buChar char="▸"/>
            </a:pPr>
            <a:r>
              <a:rPr sz="1600" b="0">
                <a:solidFill>
                  <a:srgbClr val="10223D"/>
                </a:solidFill>
                <a:latin typeface="Segoe UI"/>
              </a:rPr>
              <a:t>Chrome on Android: Add to Home screen.</a:t>
            </a:r>
          </a:p>
          <a:p>
            <a:pPr algn="l" marL="219456" indent="-219456">
              <a:lnSpc>
                <a:spcPct val="108000"/>
              </a:lnSpc>
              <a:spcBef>
                <a:spcPts val="0"/>
              </a:spcBef>
              <a:spcAft>
                <a:spcPts val="1800"/>
              </a:spcAft>
              <a:buClr>
                <a:srgbClr val="2196F3"/>
              </a:buClr>
              <a:buFont typeface="Arial"/>
              <a:buChar char="▸"/>
            </a:pPr>
            <a:r>
              <a:rPr sz="1600" b="0">
                <a:solidFill>
                  <a:srgbClr val="10223D"/>
                </a:solidFill>
                <a:latin typeface="Segoe UI"/>
              </a:rPr>
              <a:t>Standalone window, own icon, portrait.</a:t>
            </a:r>
          </a:p>
          <a:p>
            <a:pPr algn="l" marL="219456" indent="-219456">
              <a:lnSpc>
                <a:spcPct val="108000"/>
              </a:lnSpc>
              <a:spcBef>
                <a:spcPts val="0"/>
              </a:spcBef>
              <a:spcAft>
                <a:spcPts val="1800"/>
              </a:spcAft>
              <a:buClr>
                <a:srgbClr val="2196F3"/>
              </a:buClr>
              <a:buFont typeface="Arial"/>
              <a:buChar char="▸"/>
            </a:pPr>
            <a:r>
              <a:rPr sz="1600" b="0">
                <a:solidFill>
                  <a:srgbClr val="10223D"/>
                </a:solidFill>
                <a:latin typeface="Segoe UI"/>
              </a:rPr>
              <a:t>Service worker caches pages offline.</a:t>
            </a:r>
          </a:p>
          <a:p>
            <a:pPr algn="l" marL="219456" indent="-219456">
              <a:lnSpc>
                <a:spcPct val="108000"/>
              </a:lnSpc>
              <a:spcBef>
                <a:spcPts val="0"/>
              </a:spcBef>
              <a:spcAft>
                <a:spcPts val="1800"/>
              </a:spcAft>
              <a:buClr>
                <a:srgbClr val="2196F3"/>
              </a:buClr>
              <a:buFont typeface="Arial"/>
              <a:buChar char="▸"/>
            </a:pPr>
            <a:r>
              <a:rPr sz="1600" b="0">
                <a:solidFill>
                  <a:srgbClr val="10223D"/>
                </a:solidFill>
                <a:latin typeface="Segoe UI"/>
              </a:rPr>
              <a:t>Updates instantly — no APK versions.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737360"/>
            <a:ext cx="3840480" cy="3931920"/>
          </a:xfrm>
          <a:prstGeom prst="roundRect">
            <a:avLst>
              <a:gd name="adj" fmla="val 5000"/>
            </a:avLst>
          </a:prstGeom>
          <a:solidFill>
            <a:srgbClr val="E3F2FD"/>
          </a:solidFill>
          <a:ln w="12700">
            <a:solidFill>
              <a:srgbClr val="C3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1975104"/>
            <a:ext cx="329184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150" b="1">
                <a:solidFill>
                  <a:srgbClr val="2196F3"/>
                </a:solidFill>
                <a:latin typeface="Segoe UI"/>
              </a:rPr>
              <a:t>BUILT FOR THE USER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D47A1"/>
                </a:solidFill>
                <a:latin typeface="Segoe UI"/>
              </a:rPr>
              <a:t>R399 Android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</a:pPr>
            <a:r>
              <a:rPr sz="1200" b="0">
                <a:solidFill>
                  <a:srgbClr val="4A6080"/>
                </a:solidFill>
                <a:latin typeface="Segoe UI"/>
              </a:rPr>
              <a:t>entry-level hardware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D47A1"/>
                </a:solidFill>
                <a:latin typeface="Segoe UI"/>
              </a:rPr>
              <a:t>Prepaid data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</a:pPr>
            <a:r>
              <a:rPr sz="1200" b="0">
                <a:solidFill>
                  <a:srgbClr val="4A6080"/>
                </a:solidFill>
                <a:latin typeface="Segoe UI"/>
              </a:rPr>
              <a:t>R30–R100 a month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D47A1"/>
                </a:solidFill>
                <a:latin typeface="Segoe UI"/>
              </a:rPr>
              <a:t>WhatsApp-first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</a:pPr>
            <a:r>
              <a:rPr sz="1200" b="0">
                <a:solidFill>
                  <a:srgbClr val="4A6080"/>
                </a:solidFill>
                <a:latin typeface="Segoe UI"/>
              </a:rPr>
              <a:t>share a link, not a store page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502920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5029200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D47A1"/>
                </a:solidFill>
                <a:latin typeface="Segoe UI"/>
              </a:rPr>
              <a:t>grow-box.vercel.app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2062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196F3"/>
                </a:solidFill>
                <a:latin typeface="Segoe U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D47A1"/>
                </a:solidFill>
                <a:latin typeface="Segoe UI"/>
              </a:rPr>
              <a:t>How GrowBox makes money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316736"/>
            <a:ext cx="1371600" cy="50292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6080"/>
                </a:solidFill>
                <a:latin typeface="Segoe UI"/>
              </a:rPr>
              <a:t>GrowBox · FNB App of the Year 2026 · grow-box.vercel.app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3737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6080"/>
                </a:solidFill>
                <a:latin typeface="Segoe U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691640"/>
            <a:ext cx="3474720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3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56232"/>
            <a:ext cx="3145536" cy="10789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0D47A1"/>
                </a:solidFill>
                <a:latin typeface="Segoe UI"/>
              </a:rPr>
              <a:t>Free tier — R0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6080"/>
                </a:solidFill>
                <a:latin typeface="Segoe UI"/>
              </a:rPr>
              <a:t>Logging, dashboard, 3 nudges a week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91640"/>
            <a:ext cx="3474720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3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856232"/>
            <a:ext cx="3145536" cy="10789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0D47A1"/>
                </a:solidFill>
                <a:latin typeface="Segoe UI"/>
              </a:rPr>
              <a:t>GrowBox Pro — R39/mo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6080"/>
                </a:solidFill>
                <a:latin typeface="Segoe UI"/>
              </a:rPr>
              <a:t>Full nudges, forecasting, exports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8431" y="1691640"/>
            <a:ext cx="3474720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3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93023" y="1856232"/>
            <a:ext cx="3145536" cy="10789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0D47A1"/>
                </a:solidFill>
                <a:latin typeface="Segoe UI"/>
              </a:rPr>
              <a:t>Lender packs — R120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6080"/>
                </a:solidFill>
                <a:latin typeface="Segoe UI"/>
              </a:rPr>
              <a:t>Consented, verified trading history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246120"/>
            <a:ext cx="3474720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3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410712"/>
            <a:ext cx="3145536" cy="10789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2196F3"/>
                </a:solidFill>
                <a:latin typeface="Segoe UI"/>
              </a:rPr>
              <a:t>FNB referral — R250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6080"/>
                </a:solidFill>
                <a:latin typeface="Segoe UI"/>
              </a:rPr>
              <a:t>Per account or credit conversion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246120"/>
            <a:ext cx="3474720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3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3410712"/>
            <a:ext cx="3145536" cy="10789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2196F3"/>
                </a:solidFill>
                <a:latin typeface="Segoe UI"/>
              </a:rPr>
              <a:t>B2B2C licence — R45k/mo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6080"/>
                </a:solidFill>
                <a:latin typeface="Segoe UI"/>
              </a:rPr>
              <a:t>DFIs, NYDA, TVET colleges, NGOs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28431" y="3246120"/>
            <a:ext cx="3474720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3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3023" y="3410712"/>
            <a:ext cx="3145536" cy="10789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2196F3"/>
                </a:solidFill>
                <a:latin typeface="Segoe UI"/>
              </a:rPr>
              <a:t>Marketplace — 3%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6080"/>
                </a:solidFill>
                <a:latin typeface="Segoe UI"/>
              </a:rPr>
              <a:t>Wholesale ingredient orders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5029200"/>
            <a:ext cx="10698480" cy="914400"/>
          </a:xfrm>
          <a:prstGeom prst="roundRect">
            <a:avLst>
              <a:gd name="adj" fmla="val 12000"/>
            </a:avLst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5029200"/>
            <a:ext cx="1033271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Revenue: R1.08m (Y1)  →  R8.7m (Y2)  →  R31.6m (Y3)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2062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196F3"/>
                </a:solidFill>
                <a:latin typeface="Segoe UI"/>
              </a:rPr>
              <a:t>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D47A1"/>
                </a:solidFill>
                <a:latin typeface="Segoe UI"/>
              </a:rPr>
              <a:t>Market and the metrics we track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316736"/>
            <a:ext cx="1371600" cy="50292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6080"/>
                </a:solidFill>
                <a:latin typeface="Segoe UI"/>
              </a:rPr>
              <a:t>GrowBox · FNB App of the Year 2026 · grow-box.vercel.app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3737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6080"/>
                </a:solidFill>
                <a:latin typeface="Segoe U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645920"/>
            <a:ext cx="10698480" cy="777240"/>
          </a:xfrm>
          <a:prstGeom prst="roundRect">
            <a:avLst>
              <a:gd name="adj" fmla="val 12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45920"/>
            <a:ext cx="10332719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D47A1"/>
                </a:solidFill>
                <a:latin typeface="Segoe UI"/>
              </a:rPr>
              <a:t>North Star: Weekly Active Trading Businesses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743200"/>
            <a:ext cx="2578608" cy="13716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C3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834640"/>
            <a:ext cx="2359152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0D47A1"/>
                </a:solidFill>
                <a:latin typeface="Segoe UI"/>
              </a:rPr>
              <a:t>25,000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6080"/>
                </a:solidFill>
                <a:latin typeface="Segoe UI"/>
              </a:rPr>
              <a:t>businesses in 12 months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2743200"/>
            <a:ext cx="2578608" cy="13716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C3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4448" y="2834640"/>
            <a:ext cx="2359152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0D47A1"/>
                </a:solidFill>
                <a:latin typeface="Segoe UI"/>
              </a:rPr>
              <a:t>5,000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6080"/>
                </a:solidFill>
                <a:latin typeface="Segoe UI"/>
              </a:rPr>
              <a:t>bankable scores in 12 months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1" y="2743200"/>
            <a:ext cx="2578608" cy="13716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C3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59" y="2834640"/>
            <a:ext cx="2359152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0D47A1"/>
                </a:solidFill>
                <a:latin typeface="Segoe UI"/>
              </a:rPr>
              <a:t>150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6080"/>
                </a:solidFill>
                <a:latin typeface="Segoe UI"/>
              </a:rPr>
              <a:t>FNB conversions in year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24544" y="2743200"/>
            <a:ext cx="2578608" cy="13716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C3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34272" y="2834640"/>
            <a:ext cx="2359152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0D47A1"/>
                </a:solidFill>
                <a:latin typeface="Segoe UI"/>
              </a:rPr>
              <a:t>60%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6080"/>
                </a:solidFill>
                <a:latin typeface="Segoe UI"/>
              </a:rPr>
              <a:t>nudges acted on in 7 days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480560"/>
            <a:ext cx="106984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19456" indent="-219456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  <a:buClr>
                <a:srgbClr val="2196F3"/>
              </a:buClr>
              <a:buFont typeface="Arial"/>
              <a:buChar char="▸"/>
            </a:pPr>
            <a:r>
              <a:rPr sz="1500" b="0">
                <a:solidFill>
                  <a:srgbClr val="10223D"/>
                </a:solidFill>
                <a:latin typeface="Segoe UI"/>
              </a:rPr>
              <a:t>Launch where informal trade concentrates: Gauteng, KZN, Limpopo.</a:t>
            </a:r>
          </a:p>
          <a:p>
            <a:pPr algn="l" marL="219456" indent="-219456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  <a:buClr>
                <a:srgbClr val="2196F3"/>
              </a:buClr>
              <a:buFont typeface="Arial"/>
              <a:buChar char="▸"/>
            </a:pPr>
            <a:r>
              <a:rPr sz="1500" b="0">
                <a:solidFill>
                  <a:srgbClr val="10223D"/>
                </a:solidFill>
                <a:latin typeface="Segoe UI"/>
              </a:rPr>
              <a:t>WhatsApp-first sharing — near-zero acquisition cost.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2062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196F3"/>
                </a:solidFill>
                <a:latin typeface="Segoe UI"/>
              </a:rPr>
              <a:t>PARTNERSHIP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D47A1"/>
                </a:solidFill>
                <a:latin typeface="Segoe UI"/>
              </a:rPr>
              <a:t>Why this matters to FNB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316736"/>
            <a:ext cx="1371600" cy="50292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6080"/>
                </a:solidFill>
                <a:latin typeface="Segoe UI"/>
              </a:rPr>
              <a:t>GrowBox · FNB App of the Year 2026 · grow-box.vercel.app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3737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6080"/>
                </a:solidFill>
                <a:latin typeface="Segoe U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783080"/>
            <a:ext cx="64008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19456" indent="-219456">
              <a:lnSpc>
                <a:spcPct val="108000"/>
              </a:lnSpc>
              <a:spcBef>
                <a:spcPts val="0"/>
              </a:spcBef>
              <a:spcAft>
                <a:spcPts val="1800"/>
              </a:spcAft>
              <a:buClr>
                <a:srgbClr val="2196F3"/>
              </a:buClr>
              <a:buFont typeface="Arial"/>
              <a:buChar char="▸"/>
            </a:pPr>
            <a:r>
              <a:rPr sz="1600" b="0">
                <a:solidFill>
                  <a:srgbClr val="10223D"/>
                </a:solidFill>
                <a:latin typeface="Segoe UI"/>
              </a:rPr>
              <a:t>Zero-CAC distribution into FNB SME.</a:t>
            </a:r>
          </a:p>
          <a:p>
            <a:pPr algn="l" marL="219456" indent="-219456">
              <a:lnSpc>
                <a:spcPct val="108000"/>
              </a:lnSpc>
              <a:spcBef>
                <a:spcPts val="0"/>
              </a:spcBef>
              <a:spcAft>
                <a:spcPts val="1800"/>
              </a:spcAft>
              <a:buClr>
                <a:srgbClr val="2196F3"/>
              </a:buClr>
              <a:buFont typeface="Arial"/>
              <a:buChar char="▸"/>
            </a:pPr>
            <a:r>
              <a:rPr sz="1600" b="0">
                <a:solidFill>
                  <a:srgbClr val="10223D"/>
                </a:solidFill>
                <a:latin typeface="Segoe UI"/>
              </a:rPr>
              <a:t>Unit-economics data banks never see.</a:t>
            </a:r>
          </a:p>
          <a:p>
            <a:pPr algn="l" marL="219456" indent="-219456">
              <a:lnSpc>
                <a:spcPct val="108000"/>
              </a:lnSpc>
              <a:spcBef>
                <a:spcPts val="0"/>
              </a:spcBef>
              <a:spcAft>
                <a:spcPts val="1800"/>
              </a:spcAft>
              <a:buClr>
                <a:srgbClr val="2196F3"/>
              </a:buClr>
              <a:buFont typeface="Arial"/>
              <a:buChar char="▸"/>
            </a:pPr>
            <a:r>
              <a:rPr sz="1600" b="0">
                <a:solidFill>
                  <a:srgbClr val="10223D"/>
                </a:solidFill>
                <a:latin typeface="Segoe UI"/>
              </a:rPr>
              <a:t>Prices a segment FNB cannot price today.</a:t>
            </a:r>
          </a:p>
          <a:p>
            <a:pPr algn="l" marL="219456" indent="-219456">
              <a:lnSpc>
                <a:spcPct val="108000"/>
              </a:lnSpc>
              <a:spcBef>
                <a:spcPts val="0"/>
              </a:spcBef>
              <a:spcAft>
                <a:spcPts val="1800"/>
              </a:spcAft>
              <a:buClr>
                <a:srgbClr val="2196F3"/>
              </a:buClr>
              <a:buFont typeface="Arial"/>
              <a:buChar char="▸"/>
            </a:pPr>
            <a:r>
              <a:rPr sz="1600" b="0">
                <a:solidFill>
                  <a:srgbClr val="10223D"/>
                </a:solidFill>
                <a:latin typeface="Segoe UI"/>
              </a:rPr>
              <a:t>Pipeline of credit-ready, thin-file customers.</a:t>
            </a:r>
          </a:p>
          <a:p>
            <a:pPr algn="l" marL="219456" indent="-219456">
              <a:lnSpc>
                <a:spcPct val="108000"/>
              </a:lnSpc>
              <a:spcBef>
                <a:spcPts val="0"/>
              </a:spcBef>
              <a:spcAft>
                <a:spcPts val="1800"/>
              </a:spcAft>
              <a:buClr>
                <a:srgbClr val="2196F3"/>
              </a:buClr>
              <a:buFont typeface="Arial"/>
              <a:buChar char="▸"/>
            </a:pPr>
            <a:r>
              <a:rPr sz="1600" b="0">
                <a:solidFill>
                  <a:srgbClr val="10223D"/>
                </a:solidFill>
                <a:latin typeface="Segoe UI"/>
              </a:rPr>
              <a:t>Better risk data on informal traders.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783080"/>
            <a:ext cx="3840480" cy="3977639"/>
          </a:xfrm>
          <a:prstGeom prst="roundRect">
            <a:avLst>
              <a:gd name="adj" fmla="val 5000"/>
            </a:avLst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82127" y="2057400"/>
            <a:ext cx="3255264" cy="3474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150" b="1">
                <a:solidFill>
                  <a:srgbClr val="90CAF9"/>
                </a:solidFill>
                <a:latin typeface="Segoe UI"/>
              </a:rPr>
              <a:t>THE FNB CASE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Qualified, credit-ready small-business customers — with the risk data to match.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3679"/>
              </a:gs>
              <a:gs pos="100000">
                <a:srgbClr val="2196F3"/>
              </a:gs>
            </a:gsLst>
            <a:lin scaled="0" ang="198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550408" y="1371600"/>
            <a:ext cx="1371600" cy="1371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568" y="1508760"/>
            <a:ext cx="1097280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2971800"/>
            <a:ext cx="94457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023360"/>
            <a:ext cx="9445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E3F2FD"/>
                </a:solidFill>
                <a:latin typeface="Segoe UI"/>
              </a:rPr>
              <a:t>Code calculates · AI explains · The paper trail is a by-product.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70248" y="4754880"/>
            <a:ext cx="3657600" cy="50292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61688" y="4754880"/>
            <a:ext cx="3474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D47A1"/>
                </a:solidFill>
                <a:latin typeface="Segoe UI"/>
              </a:rPr>
              <a:t>grow-box.vercel.app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