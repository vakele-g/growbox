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  <p:sldId id="265" r:id="rId9"/>
    <p:sldId id="267" r:id="rId10"/>
    <p:sldId id="268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3679"/>
              </a:gs>
              <a:gs pos="100000">
                <a:srgbClr val="2196F3"/>
              </a:gs>
            </a:gsLst>
            <a:lin ang="19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21808" y="1051560"/>
            <a:ext cx="1554480" cy="1554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234439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788920"/>
            <a:ext cx="94457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Segoe UI" panose="020B0502040204020203"/>
              </a:rPr>
              <a:t>GrowBox</a:t>
            </a:r>
            <a:endParaRPr sz="6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45752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90CAF9"/>
                </a:solidFill>
                <a:latin typeface="Segoe UI" panose="020B0502040204020203"/>
                <a:sym typeface="+mn-ea"/>
              </a:rPr>
              <a:t>a </a:t>
            </a:r>
            <a:r>
              <a:rPr sz="2400">
                <a:solidFill>
                  <a:srgbClr val="90CAF9"/>
                </a:solidFill>
                <a:latin typeface="Segoe UI" panose="020B0502040204020203"/>
                <a:sym typeface="+mn-ea"/>
              </a:rPr>
              <a:t>proactive business </a:t>
            </a:r>
            <a:r>
              <a:rPr lang="en-US" sz="2400">
                <a:solidFill>
                  <a:srgbClr val="90CAF9"/>
                </a:solidFill>
                <a:latin typeface="Segoe UI" panose="020B0502040204020203"/>
                <a:sym typeface="+mn-ea"/>
              </a:rPr>
              <a:t>mentor</a:t>
            </a:r>
            <a:r>
              <a:rPr sz="2400">
                <a:solidFill>
                  <a:srgbClr val="90CAF9"/>
                </a:solidFill>
                <a:latin typeface="Segoe UI" panose="020B0502040204020203"/>
                <a:sym typeface="+mn-ea"/>
              </a:rPr>
              <a:t> for entrepreneurs</a:t>
            </a:r>
            <a:endParaRPr sz="2400" b="0">
              <a:solidFill>
                <a:srgbClr val="E3F2FD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70248" y="5120640"/>
            <a:ext cx="3657600" cy="47548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5120640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47A1"/>
                </a:solidFill>
                <a:latin typeface="Segoe UI" panose="020B0502040204020203"/>
              </a:rPr>
              <a:t>grow-box.vercel.app</a:t>
            </a:r>
            <a:endParaRPr sz="15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0CAF9"/>
                </a:solidFill>
                <a:latin typeface="Segoe UI" panose="020B0502040204020203"/>
              </a:rPr>
              <a:t>FNB App of the Year Hackathon 2026 · Youth entrepreneurship and small-business growth</a:t>
            </a:r>
            <a:endParaRPr sz="1150" b="0">
              <a:solidFill>
                <a:srgbClr val="90CAF9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177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2196F3"/>
                </a:solidFill>
                <a:latin typeface="Segoe UI" panose="020B0502040204020203"/>
              </a:rPr>
              <a:t>THE </a:t>
            </a: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PROBLEM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903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0D47A1"/>
                </a:solidFill>
                <a:latin typeface="Segoe UI" panose="020B0502040204020203"/>
              </a:rPr>
              <a:t>Informal SA businesses are not counted:</a:t>
            </a:r>
            <a:endParaRPr sz="28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8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2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8170" y="178308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898" y="2121853"/>
            <a:ext cx="2359152" cy="694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80%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6080"/>
                </a:solidFill>
                <a:latin typeface="Segoe UI" panose="020B0502040204020203"/>
              </a:rPr>
              <a:t>are unregistered</a:t>
            </a:r>
            <a:endParaRPr sz="12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23081" y="178308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2809" y="2121853"/>
            <a:ext cx="2359152" cy="694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77%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6080"/>
                </a:solidFill>
                <a:latin typeface="Segoe UI" panose="020B0502040204020203"/>
              </a:rPr>
              <a:t>manage money by hand</a:t>
            </a:r>
            <a:endParaRPr sz="12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47994" y="178308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7722" y="2121853"/>
            <a:ext cx="2359152" cy="694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33%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>
                <a:solidFill>
                  <a:srgbClr val="4A6080"/>
                </a:solidFill>
                <a:latin typeface="Segoe UI" panose="020B0502040204020203"/>
              </a:rPr>
              <a:t>have</a:t>
            </a:r>
            <a:r>
              <a:rPr sz="1200" b="0">
                <a:solidFill>
                  <a:srgbClr val="4A6080"/>
                </a:solidFill>
                <a:latin typeface="Segoe UI" panose="020B0502040204020203"/>
              </a:rPr>
              <a:t> </a:t>
            </a:r>
            <a:r>
              <a:rPr sz="1200" b="0">
                <a:solidFill>
                  <a:schemeClr val="accent1"/>
                </a:solidFill>
                <a:latin typeface="Segoe UI" panose="020B0502040204020203"/>
              </a:rPr>
              <a:t>access</a:t>
            </a:r>
            <a:r>
              <a:rPr lang="en-US" sz="1200" b="0">
                <a:solidFill>
                  <a:schemeClr val="accent1"/>
                </a:solidFill>
                <a:latin typeface="Segoe UI" panose="020B0502040204020203"/>
              </a:rPr>
              <a:t> </a:t>
            </a:r>
            <a:r>
              <a:rPr lang="en-US" sz="1200" b="0">
                <a:solidFill>
                  <a:srgbClr val="4A6080"/>
                </a:solidFill>
                <a:latin typeface="Segoe UI" panose="020B0502040204020203"/>
              </a:rPr>
              <a:t>to</a:t>
            </a:r>
            <a:r>
              <a:rPr sz="1200" b="0">
                <a:solidFill>
                  <a:srgbClr val="4A6080"/>
                </a:solidFill>
                <a:latin typeface="Segoe UI" panose="020B0502040204020203"/>
              </a:rPr>
              <a:t> credit</a:t>
            </a:r>
            <a:endParaRPr sz="12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3773" y="3429000"/>
            <a:ext cx="6766560" cy="1417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lang="en-US" sz="1500" b="0">
                <a:solidFill>
                  <a:srgbClr val="10223D"/>
                </a:solidFill>
                <a:latin typeface="Segoe UI" panose="020B0502040204020203"/>
              </a:rPr>
              <a:t>They don’t have a</a:t>
            </a:r>
            <a:r>
              <a:rPr sz="1500" b="0">
                <a:solidFill>
                  <a:srgbClr val="10223D"/>
                </a:solidFill>
                <a:latin typeface="Segoe UI" panose="020B0502040204020203"/>
              </a:rPr>
              <a:t> paper trail.</a:t>
            </a:r>
            <a:endParaRPr sz="15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500" b="0">
                <a:solidFill>
                  <a:srgbClr val="10223D"/>
                </a:solidFill>
                <a:latin typeface="Segoe UI" panose="020B0502040204020203"/>
              </a:rPr>
              <a:t>Margins collapse when prices </a:t>
            </a:r>
            <a:r>
              <a:rPr lang="en-US" sz="1500" b="0">
                <a:solidFill>
                  <a:srgbClr val="10223D"/>
                </a:solidFill>
                <a:latin typeface="Segoe UI" panose="020B0502040204020203"/>
              </a:rPr>
              <a:t>increase</a:t>
            </a:r>
            <a:r>
              <a:rPr sz="1500" b="0">
                <a:solidFill>
                  <a:srgbClr val="10223D"/>
                </a:solidFill>
                <a:latin typeface="Segoe UI" panose="020B0502040204020203"/>
              </a:rPr>
              <a:t>.</a:t>
            </a:r>
            <a:endParaRPr sz="15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500" b="0">
                <a:solidFill>
                  <a:srgbClr val="10223D"/>
                </a:solidFill>
                <a:latin typeface="Segoe UI" panose="020B0502040204020203"/>
              </a:rPr>
              <a:t>Advice is scattered and reactive.</a:t>
            </a:r>
            <a:endParaRPr sz="15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500" b="0">
                <a:solidFill>
                  <a:srgbClr val="10223D"/>
                </a:solidFill>
                <a:latin typeface="Segoe UI" panose="020B0502040204020203"/>
              </a:rPr>
              <a:t>R350bn MSME funding gap (OECD, 2026).</a:t>
            </a:r>
            <a:endParaRPr sz="150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46365" y="342900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9244" y="342900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egoe UI" panose="020B0502040204020203"/>
              </a:rPr>
              <a:t>No paper trail
= no credit.</a:t>
            </a:r>
            <a:endParaRPr sz="22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5597017" y="2372996"/>
            <a:ext cx="2359152" cy="19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1200">
                <a:solidFill>
                  <a:schemeClr val="accent1"/>
                </a:solidFill>
                <a:latin typeface="Segoe UI" panose="020B0502040204020203"/>
              </a:rPr>
              <a:t>only</a:t>
            </a:r>
            <a:endParaRPr lang="en-US" sz="1200">
              <a:solidFill>
                <a:schemeClr val="accent1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SOLUTION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Our unique solution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3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005" y="1827530"/>
            <a:ext cx="7233285" cy="16014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A proactive</a:t>
            </a:r>
            <a:r>
              <a:rPr lang="en-US" sz="2000" b="0">
                <a:solidFill>
                  <a:srgbClr val="10223D"/>
                </a:solidFill>
                <a:latin typeface="Segoe UI" panose="020B0502040204020203"/>
              </a:rPr>
              <a:t> built in</a:t>
            </a: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 mentor..</a:t>
            </a:r>
            <a:endParaRPr sz="20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lang="en-US" sz="2000" b="0">
                <a:solidFill>
                  <a:srgbClr val="10223D"/>
                </a:solidFill>
                <a:latin typeface="Segoe UI" panose="020B0502040204020203"/>
              </a:rPr>
              <a:t>Understands your</a:t>
            </a: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 </a:t>
            </a:r>
            <a:r>
              <a:rPr lang="en-US" sz="2000" b="0">
                <a:solidFill>
                  <a:srgbClr val="10223D"/>
                </a:solidFill>
                <a:latin typeface="Segoe UI" panose="020B0502040204020203"/>
              </a:rPr>
              <a:t>native language</a:t>
            </a: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.</a:t>
            </a:r>
            <a:endParaRPr sz="20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Builds </a:t>
            </a:r>
            <a:r>
              <a:rPr lang="en-US" sz="2000" b="0">
                <a:solidFill>
                  <a:srgbClr val="10223D"/>
                </a:solidFill>
                <a:latin typeface="Segoe UI" panose="020B0502040204020203"/>
              </a:rPr>
              <a:t>your</a:t>
            </a:r>
            <a:r>
              <a:rPr sz="2000" b="0">
                <a:solidFill>
                  <a:srgbClr val="10223D"/>
                </a:solidFill>
                <a:latin typeface="Segoe UI" panose="020B0502040204020203"/>
              </a:rPr>
              <a:t> bankable record.</a:t>
            </a:r>
            <a:endParaRPr sz="200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0" y="1726565"/>
            <a:ext cx="3657600" cy="2011045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31162"/>
            <a:ext cx="31089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>
                <a:solidFill>
                  <a:srgbClr val="2196F3"/>
                </a:solidFill>
                <a:latin typeface="Segoe UI" panose="020B0502040204020203"/>
              </a:rPr>
              <a:t>WHAT WE ARE NOT</a:t>
            </a:r>
            <a:endParaRPr sz="1150" b="1">
              <a:solidFill>
                <a:srgbClr val="2196F3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 panose="020B0502040204020203"/>
              </a:rPr>
              <a:t>Not a chatbot.</a:t>
            </a:r>
            <a:endParaRPr sz="15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 panose="020B0502040204020203"/>
              </a:rPr>
              <a:t>Not accounting software.</a:t>
            </a:r>
            <a:endParaRPr sz="15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47A1"/>
                </a:solidFill>
                <a:latin typeface="Segoe UI" panose="020B0502040204020203"/>
              </a:rPr>
              <a:t>Not another course.</a:t>
            </a:r>
            <a:endParaRPr sz="1500" b="1">
              <a:solidFill>
                <a:srgbClr val="0D47A1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ARCHITECTURE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764159"/>
            <a:ext cx="10881360" cy="483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D47A1"/>
                </a:solidFill>
                <a:latin typeface="Segoe UI" panose="020B0502040204020203"/>
              </a:rPr>
              <a:t>Technical </a:t>
            </a: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architecture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4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935" y="1627505"/>
            <a:ext cx="4780915" cy="78613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3D"/>
                </a:solidFill>
                <a:latin typeface="Segoe UI" panose="020B0502040204020203"/>
              </a:rPr>
              <a:t>PWA UI  —  </a:t>
            </a: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Next.js App Router · screens · server actions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795778" y="2414270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935" y="2606040"/>
            <a:ext cx="5520055" cy="786130"/>
          </a:xfrm>
          <a:prstGeom prst="roundRect">
            <a:avLst>
              <a:gd name="adj" fmla="val 12000"/>
            </a:avLst>
          </a:prstGeom>
          <a:solidFill>
            <a:srgbClr val="90CAF9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15768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3D"/>
                </a:solidFill>
                <a:latin typeface="Segoe UI" panose="020B0502040204020203"/>
              </a:rPr>
              <a:t>Pure-TS domain core  —  </a:t>
            </a: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costing · margins · runway · stage · score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795778" y="3392678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935" y="3584575"/>
            <a:ext cx="5751195" cy="786130"/>
          </a:xfrm>
          <a:prstGeom prst="roundRect">
            <a:avLst>
              <a:gd name="adj" fmla="val 12000"/>
            </a:avLst>
          </a:prstGeom>
          <a:solidFill>
            <a:srgbClr val="2196F3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94176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 panose="020B0502040204020203"/>
              </a:rPr>
              <a:t>AI adapter (Gemini)  —  </a:t>
            </a:r>
            <a:r>
              <a:rPr sz="1350" b="0">
                <a:solidFill>
                  <a:srgbClr val="FFFFFF"/>
                </a:solidFill>
                <a:latin typeface="Segoe UI" panose="020B0502040204020203"/>
              </a:rPr>
              <a:t>explains and translates · 8s timeout · fallback</a:t>
            </a:r>
            <a:endParaRPr sz="135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2795778" y="4371086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935" y="4563110"/>
            <a:ext cx="5520055" cy="78613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72584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 panose="020B0502040204020203"/>
              </a:rPr>
              <a:t>Supabase Postgres  —  </a:t>
            </a:r>
            <a:r>
              <a:rPr sz="1350" b="0">
                <a:solidFill>
                  <a:srgbClr val="FFFFFF"/>
                </a:solidFill>
                <a:latin typeface="Segoe UI" panose="020B0502040204020203"/>
              </a:rPr>
              <a:t>row-level security · money as integer cents</a:t>
            </a:r>
            <a:endParaRPr sz="135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2795778" y="5349494"/>
            <a:ext cx="365760" cy="182880"/>
          </a:xfrm>
          <a:prstGeom prst="downArrow">
            <a:avLst/>
          </a:prstGeom>
          <a:solidFill>
            <a:srgbClr val="90C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935" y="5541010"/>
            <a:ext cx="4765040" cy="786130"/>
          </a:xfrm>
          <a:prstGeom prst="roundRect">
            <a:avLst>
              <a:gd name="adj" fmla="val 12000"/>
            </a:avLst>
          </a:prstGeom>
          <a:solidFill>
            <a:srgbClr val="0A3679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50992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 panose="020B0502040204020203"/>
              </a:rPr>
              <a:t>Vercel  —  </a:t>
            </a:r>
            <a:r>
              <a:rPr sz="1350" b="0">
                <a:solidFill>
                  <a:srgbClr val="FFFFFF"/>
                </a:solidFill>
                <a:latin typeface="Segoe UI" panose="020B0502040204020203"/>
              </a:rPr>
              <a:t>edge deploy · public production URL</a:t>
            </a:r>
            <a:endParaRPr sz="1350" b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63840" y="162763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792224"/>
            <a:ext cx="323697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Code calculates, AI explains.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Every number is deterministic, tested TypeScript.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863840" y="318211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3346704"/>
            <a:ext cx="323697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AI never blocks a flow.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Rule-based fallback if the key or network is missing.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863840" y="4736592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4901183"/>
            <a:ext cx="3236976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Rows are locked to one owner.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RLS scopes every table to the business.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TECHNOLOGY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483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D47A1"/>
                </a:solidFill>
                <a:latin typeface="Segoe UI" panose="020B0502040204020203"/>
              </a:rPr>
              <a:t>T</a:t>
            </a: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ech</a:t>
            </a:r>
            <a:r>
              <a:rPr lang="en-US" sz="3000" b="1">
                <a:solidFill>
                  <a:srgbClr val="0D47A1"/>
                </a:solidFill>
                <a:latin typeface="Segoe UI" panose="020B0502040204020203"/>
              </a:rPr>
              <a:t>nical</a:t>
            </a: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 stack</a:t>
            </a:r>
            <a:endParaRPr lang="en-US"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7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935" y="1691640"/>
            <a:ext cx="5212080" cy="278765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96F3"/>
                </a:solidFill>
                <a:latin typeface="Segoe UI" panose="020B0502040204020203"/>
              </a:rPr>
              <a:t>STACK</a:t>
            </a:r>
            <a:endParaRPr sz="12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Next.js 16 · App Router · Turbopack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TypeScript strict · Tailwind CSS 4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Supabase Postgres with row-level security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Vercel edge hosting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Vitest: 62 passing tests · ESLint · tsc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27876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96F3"/>
                </a:solidFill>
                <a:latin typeface="Segoe UI" panose="020B0502040204020203"/>
              </a:rPr>
              <a:t>FAST BY DESIGN</a:t>
            </a:r>
            <a:endParaRPr sz="12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Static-first shell, served from the edge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Deterministic maths stays off the AI path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Low-data PWA for entry-level Android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Works offline for review and calculations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350" b="0">
                <a:solidFill>
                  <a:srgbClr val="10223D"/>
                </a:solidFill>
                <a:latin typeface="Segoe UI" panose="020B0502040204020203"/>
              </a:rPr>
              <a:t>English and isiZulu message files</a:t>
            </a:r>
            <a:endParaRPr sz="1350" b="0">
              <a:solidFill>
                <a:srgbClr val="10223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JOURNEY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483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>
                <a:solidFill>
                  <a:srgbClr val="0D47A1"/>
                </a:solidFill>
                <a:latin typeface="Segoe UI" panose="020B0502040204020203"/>
              </a:rPr>
              <a:t>The</a:t>
            </a: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 </a:t>
            </a:r>
            <a:r>
              <a:rPr lang="en-US" sz="3000" b="1">
                <a:solidFill>
                  <a:srgbClr val="0D47A1"/>
                </a:solidFill>
                <a:latin typeface="Segoe UI" panose="020B0502040204020203"/>
              </a:rPr>
              <a:t>J</a:t>
            </a: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ourney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5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749808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Idea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926079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Launch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5102352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Stable</a:t>
            </a:r>
            <a:r>
              <a:rPr lang="en-US" sz="1400" b="1">
                <a:solidFill>
                  <a:srgbClr val="FFFFFF"/>
                </a:solidFill>
                <a:latin typeface="Segoe UI" panose="020B0502040204020203"/>
              </a:rPr>
              <a:t> income</a:t>
            </a:r>
            <a:endParaRPr lang="en-US"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7278624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Grow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454896" y="1627632"/>
            <a:ext cx="2157984" cy="841248"/>
          </a:xfrm>
          <a:prstGeom prst="chevron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Enterprise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926080"/>
            <a:ext cx="106984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Nomsa starts with R1,500 and an idea.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The Stage 1 </a:t>
            </a:r>
            <a:r>
              <a:rPr lang="en-US" sz="1600" b="0">
                <a:solidFill>
                  <a:srgbClr val="10223D"/>
                </a:solidFill>
                <a:latin typeface="Segoe UI" panose="020B0502040204020203"/>
              </a:rPr>
              <a:t>calculater costs</a:t>
            </a: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 her </a:t>
            </a:r>
            <a:r>
              <a:rPr lang="en-US" sz="1600" b="0">
                <a:solidFill>
                  <a:srgbClr val="10223D"/>
                </a:solidFill>
                <a:latin typeface="Segoe UI" panose="020B0502040204020203"/>
              </a:rPr>
              <a:t>products</a:t>
            </a: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 in 90 seconds.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She types: “sold 40 gwinya</a:t>
            </a:r>
            <a:r>
              <a:rPr lang="en-US" sz="1600" b="0">
                <a:solidFill>
                  <a:srgbClr val="10223D"/>
                </a:solidFill>
                <a:latin typeface="Segoe UI" panose="020B0502040204020203"/>
              </a:rPr>
              <a:t>s</a:t>
            </a: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, bought oil for </a:t>
            </a:r>
            <a:r>
              <a:rPr lang="en-US" sz="1600" b="0">
                <a:solidFill>
                  <a:srgbClr val="10223D"/>
                </a:solidFill>
                <a:latin typeface="Segoe UI" panose="020B0502040204020203"/>
              </a:rPr>
              <a:t>R190</a:t>
            </a: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”..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14 days of trades become a lender-ready record.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BUSINESS MODEL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How GrowBox makes money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10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Free tier — R0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Logging, dashboard, 3 nudges a week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GrowBox Pro — R39/mo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Full nudges, forecasting, exports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28431" y="169164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85623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47A1"/>
                </a:solidFill>
                <a:latin typeface="Segoe UI" panose="020B0502040204020203"/>
              </a:rPr>
              <a:t>Lender packs — R120</a:t>
            </a:r>
            <a:endParaRPr sz="1300" b="1">
              <a:solidFill>
                <a:srgbClr val="0D47A1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Consented, verified trading history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1071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 panose="020B0502040204020203"/>
              </a:rPr>
              <a:t>FNB referral — R250</a:t>
            </a:r>
            <a:endParaRPr sz="1300" b="1">
              <a:solidFill>
                <a:srgbClr val="2196F3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Per account or credit conversion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41071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 panose="020B0502040204020203"/>
              </a:rPr>
              <a:t>B2B2C licence — R45k/mo</a:t>
            </a:r>
            <a:endParaRPr sz="1300" b="1">
              <a:solidFill>
                <a:srgbClr val="2196F3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DFIs, NYDA, TVET colleges, NGOs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28431" y="3246120"/>
            <a:ext cx="347472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3410712"/>
            <a:ext cx="3145536" cy="1078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96F3"/>
                </a:solidFill>
                <a:latin typeface="Segoe UI" panose="020B0502040204020203"/>
              </a:rPr>
              <a:t>Marketplace — 3%</a:t>
            </a:r>
            <a:endParaRPr sz="1300" b="1">
              <a:solidFill>
                <a:srgbClr val="2196F3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6080"/>
                </a:solidFill>
                <a:latin typeface="Segoe UI" panose="020B0502040204020203"/>
              </a:rPr>
              <a:t>Wholesale ingredient orders</a:t>
            </a:r>
            <a:endParaRPr sz="110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8" y="50292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29200"/>
            <a:ext cx="10332719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 panose="020B0502040204020203"/>
              </a:rPr>
              <a:t>Revenue: R1.08m (Y1)  →  R8.7m (Y2)  →  R31.6m (Y3)</a:t>
            </a:r>
            <a:endParaRPr sz="1800" b="1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96F3"/>
                </a:solidFill>
                <a:latin typeface="Segoe UI" panose="020B0502040204020203"/>
              </a:rPr>
              <a:t>PARTNERSHIP</a:t>
            </a:r>
            <a:endParaRPr sz="1100" b="1">
              <a:solidFill>
                <a:srgbClr val="2196F3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9494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47A1"/>
                </a:solidFill>
                <a:latin typeface="Segoe UI" panose="020B0502040204020203"/>
              </a:rPr>
              <a:t>Why this matters to FNB</a:t>
            </a:r>
            <a:endParaRPr sz="3000" b="1">
              <a:solidFill>
                <a:srgbClr val="0D47A1"/>
              </a:solidFill>
              <a:latin typeface="Segoe UI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316736"/>
            <a:ext cx="1371600" cy="50292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6080"/>
                </a:solidFill>
                <a:latin typeface="Segoe UI" panose="020B0502040204020203"/>
              </a:rPr>
              <a:t>12</a:t>
            </a:r>
            <a:endParaRPr sz="950" b="0">
              <a:solidFill>
                <a:srgbClr val="4A6080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Zero-CAC distribution into FNB SME.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Unit-economics data banks never see.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Prices a segment FNB cannot price today.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Pipeline of credit-ready, thin-file customers.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  <a:p>
            <a:pPr marL="219710" indent="-219710" algn="l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Clr>
                <a:srgbClr val="2196F3"/>
              </a:buClr>
              <a:buFont typeface="Arial" panose="020B0604020202020204"/>
              <a:buChar char="▸"/>
            </a:pPr>
            <a:r>
              <a:rPr sz="1600" b="0">
                <a:solidFill>
                  <a:srgbClr val="10223D"/>
                </a:solidFill>
                <a:latin typeface="Segoe UI" panose="020B0502040204020203"/>
              </a:rPr>
              <a:t>Better risk data on informal traders.</a:t>
            </a:r>
            <a:endParaRPr sz="1600" b="0">
              <a:solidFill>
                <a:srgbClr val="10223D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89520" y="1783080"/>
            <a:ext cx="3840480" cy="3977639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2057400"/>
            <a:ext cx="3255264" cy="3474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150" b="1">
                <a:solidFill>
                  <a:srgbClr val="90CAF9"/>
                </a:solidFill>
                <a:latin typeface="Segoe UI" panose="020B0502040204020203"/>
              </a:rPr>
              <a:t>THE FNB CASE</a:t>
            </a:r>
            <a:endParaRPr sz="1150" b="1">
              <a:solidFill>
                <a:srgbClr val="90CAF9"/>
              </a:solidFill>
              <a:latin typeface="Segoe UI" panose="020B0502040204020203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 panose="020B0502040204020203"/>
              </a:rPr>
              <a:t>Qualified, credit-ready small-business customers — with the risk data to match.</a:t>
            </a:r>
            <a:endParaRPr sz="1700" b="1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3679"/>
              </a:gs>
              <a:gs pos="100000">
                <a:srgbClr val="2196F3"/>
              </a:gs>
            </a:gsLst>
            <a:lin ang="19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50408" y="1371600"/>
            <a:ext cx="1371600" cy="1371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50876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4935" y="3717925"/>
            <a:ext cx="9445752" cy="64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FFFFFF"/>
                </a:solidFill>
                <a:latin typeface="Segoe UI" panose="020B0502040204020203"/>
              </a:rPr>
              <a:t>Give it a try.</a:t>
            </a:r>
            <a:endParaRPr lang="en-US" sz="40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475488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4877435"/>
            <a:ext cx="3474720" cy="2578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0D47A1"/>
                </a:solidFill>
                <a:latin typeface="Segoe UI" panose="020B0502040204020203"/>
              </a:rPr>
              <a:t>https://</a:t>
            </a:r>
            <a:r>
              <a:rPr sz="1600" b="1">
                <a:solidFill>
                  <a:srgbClr val="0D47A1"/>
                </a:solidFill>
                <a:latin typeface="Segoe UI" panose="020B0502040204020203"/>
              </a:rPr>
              <a:t>grow-box.vercel.app</a:t>
            </a:r>
            <a:endParaRPr sz="1600" b="1">
              <a:solidFill>
                <a:srgbClr val="0D47A1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2600</Words>
  <Application>WPS Presentation</Application>
  <PresentationFormat>On-screen Show (4:3)</PresentationFormat>
  <Paragraphs>161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Vakele</cp:lastModifiedBy>
  <cp:revision>3</cp:revision>
  <dcterms:created xsi:type="dcterms:W3CDTF">2013-01-27T09:14:00Z</dcterms:created>
  <dcterms:modified xsi:type="dcterms:W3CDTF">2026-10-25T18:37:26Z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1033-12.1.0.28099</vt:lpwstr>
  </property>
  <property fmtid="{D5CDD505-2E9C-101B-9397-08002B2CF9AE}" pid="3" name="ICV">
    <vt:lpwstr>82DBFCC69057474292EAC8E715D83C02_13</vt:lpwstr>
  </property>
</Properties>
</file>